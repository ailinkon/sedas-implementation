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5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4E5F"/>
                </a:solidFill>
                <a:latin typeface="Calibri"/>
              </a:rPr>
              <a:t>F1 Score by Method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F4E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SVC</c:v>
                  </c:pt>
                  <c:pt idx="1">
                    <c:v>Random
Forest</c:v>
                  </c:pt>
                  <c:pt idx="2">
                    <c:v>Logistic
Reg.</c:v>
                  </c:pt>
                  <c:pt idx="3">
                    <c:v>XGBoost</c:v>
                  </c:pt>
                  <c:pt idx="4">
                    <c:v>Multinomial
NB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99.16</c:v>
                </c:pt>
                <c:pt idx="1">
                  <c:v>98.71</c:v>
                </c:pt>
                <c:pt idx="2">
                  <c:v>98.65</c:v>
                </c:pt>
                <c:pt idx="3">
                  <c:v>97.56</c:v>
                </c:pt>
                <c:pt idx="4">
                  <c:v>97.47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6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SEDAS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9992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Defence and Awareness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— MVP Progress Presentation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526280"/>
            <a:ext cx="2743200" cy="0"/>
          </a:xfrm>
          <a:prstGeom prst="line">
            <a:avLst/>
          </a:prstGeom>
          <a:noFill/>
          <a:ln w="19050">
            <a:solidFill>
              <a:srgbClr val="7FB3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Ashraful Islam   ·   Dominic Kipchirchir   ·   Huzaifa Iqbal   ·   Sonu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MIS5320 Applied IS Project — Part 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&amp;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alone isn't enough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9656"/>
            <a:ext cx="384048" cy="384048"/>
          </a:xfrm>
          <a:prstGeom prst="ellipse">
            <a:avLst/>
          </a:prstGeom>
          <a:solidFill>
            <a:srgbClr val="EAF2F4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9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2821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exploits judgement, not just gaps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075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don't need to defeat technical controls — only to persuade one user to trust a deceptive message.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rgbClr val="EAF2F4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98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072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is a wide attack surface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changing populations and decentralised services create many plausible identities to imitate.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EAF2F4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886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in isolation misses the loop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336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research stops at classification — no explanation for users, no feedback into training or governance.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F4E5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 </a:t>
            </a:r>
            <a:pPr indent="0" marL="0">
              <a:buNone/>
            </a:pPr>
            <a:r>
              <a:rPr lang="en-US" sz="1350" dirty="0">
                <a:solidFill>
                  <a:srgbClr val="DC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ML detection, tamper-evident URL verification, adaptive training and governance evidence — one working system, not four separate tools.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 — Project &amp; Problem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82,486 labelled emails, identical to the benchmark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82,486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6334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usable emails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6459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BEAE8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78308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42,891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6459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EAF2EC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0" y="178308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39,595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38160" y="2377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101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merged public corpora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EAF2F4"/>
          </a:solidFill>
          <a:ln w="9525">
            <a:solidFill>
              <a:srgbClr val="7FB3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374904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EAF2F4"/>
          </a:solidFill>
          <a:ln w="9525">
            <a:solidFill>
              <a:srgbClr val="7FB3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3749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Ling-Spam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EAF2F4"/>
          </a:solidFill>
          <a:ln w="9525">
            <a:solidFill>
              <a:srgbClr val="7FB3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3749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 2008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EAF2F4"/>
          </a:solidFill>
          <a:ln w="9525">
            <a:solidFill>
              <a:srgbClr val="7FB3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749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374904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EAF2F4"/>
          </a:solidFill>
          <a:ln w="9525">
            <a:solidFill>
              <a:srgbClr val="7FB3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3749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Fraud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21240" y="374904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EAF2F4"/>
          </a:solidFill>
          <a:ln w="9525">
            <a:solidFill>
              <a:srgbClr val="7FB3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3749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BF3E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70916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dataset:  </a:t>
            </a:r>
            <a:pPr indent="0" marL="0">
              <a:buNone/>
            </a:pPr>
            <a:r>
              <a:rPr lang="en-US" sz="1300" dirty="0">
                <a:solidFill>
                  <a:srgbClr val="6B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exact dataset published alongside the base benchmark paper [1]. Loaded class counts match the paper's reported figures precisely, so any performance difference is attributable to method, not to different data.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Dominic — Dataset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PREPARATION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a clean corpus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EAF2F4"/>
          </a:solidFill>
          <a:ln w="9525">
            <a:solidFill>
              <a:srgbClr val="7FB3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148840"/>
            <a:ext cx="548640" cy="54864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nulls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rows dropped, leaving 82,486 usable emails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72968" y="3246120"/>
            <a:ext cx="256032" cy="320040"/>
          </a:xfrm>
          <a:prstGeom prst="rightArrow">
            <a:avLst/>
          </a:prstGeom>
          <a:solidFill>
            <a:srgbClr val="7FB3C4"/>
          </a:solidFill>
          <a:ln/>
        </p:spPr>
      </p:sp>
      <p:sp>
        <p:nvSpPr>
          <p:cNvPr id="10" name="Shape 8"/>
          <p:cNvSpPr/>
          <p:nvPr/>
        </p:nvSpPr>
        <p:spPr>
          <a:xfrm>
            <a:off x="3447288" y="19202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9525">
            <a:solidFill>
              <a:srgbClr val="7FB3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5988" y="2148840"/>
            <a:ext cx="548640" cy="54864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12" name="Text 10"/>
          <p:cNvSpPr/>
          <p:nvPr/>
        </p:nvSpPr>
        <p:spPr>
          <a:xfrm>
            <a:off x="4475988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84448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fields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4448" y="34290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body combined into a single text field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71616" y="3246120"/>
            <a:ext cx="256032" cy="320040"/>
          </a:xfrm>
          <a:prstGeom prst="rightArrow">
            <a:avLst/>
          </a:prstGeom>
          <a:solidFill>
            <a:srgbClr val="7FB3C4"/>
          </a:solidFill>
          <a:ln/>
        </p:spPr>
      </p:sp>
      <p:sp>
        <p:nvSpPr>
          <p:cNvPr id="16" name="Shape 14"/>
          <p:cNvSpPr/>
          <p:nvPr/>
        </p:nvSpPr>
        <p:spPr>
          <a:xfrm>
            <a:off x="6345936" y="19202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EAF2F4"/>
          </a:solidFill>
          <a:ln w="9525">
            <a:solidFill>
              <a:srgbClr val="7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4636" y="2148840"/>
            <a:ext cx="548640" cy="54864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18" name="Text 16"/>
          <p:cNvSpPr/>
          <p:nvPr/>
        </p:nvSpPr>
        <p:spPr>
          <a:xfrm>
            <a:off x="7374636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83096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URLs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83096" y="34290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replaced with a common token before vectorisation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70264" y="3246120"/>
            <a:ext cx="256032" cy="320040"/>
          </a:xfrm>
          <a:prstGeom prst="rightArrow">
            <a:avLst/>
          </a:prstGeom>
          <a:solidFill>
            <a:srgbClr val="7FB3C4"/>
          </a:solidFill>
          <a:ln/>
        </p:spPr>
      </p:sp>
      <p:sp>
        <p:nvSpPr>
          <p:cNvPr id="22" name="Shape 20"/>
          <p:cNvSpPr/>
          <p:nvPr/>
        </p:nvSpPr>
        <p:spPr>
          <a:xfrm>
            <a:off x="9244584" y="19202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8FA"/>
          </a:solidFill>
          <a:ln w="9525">
            <a:solidFill>
              <a:srgbClr val="7FB3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73284" y="2148840"/>
            <a:ext cx="548640" cy="548640"/>
          </a:xfrm>
          <a:prstGeom prst="ellipse">
            <a:avLst/>
          </a:prstGeom>
          <a:solidFill>
            <a:srgbClr val="1F4E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273284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81744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HTML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81744" y="342900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removed so only readable content remains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normalisation and HTML stripping were added specifically for the engineered-feature extension experiment, not the baseline replication.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Dominic — Data Preparation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PREPARATION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reproducible train / test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052560" cy="777240"/>
          </a:xfrm>
          <a:prstGeom prst="roundRect">
            <a:avLst>
              <a:gd name="adj" fmla="val 7059"/>
            </a:avLst>
          </a:prstGeom>
          <a:solidFill>
            <a:srgbClr val="1F4E5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182880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7FB3C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65,988 training (80%)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18288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16,498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28016" cy="777240"/>
          </a:xfrm>
          <a:prstGeom prst="roundRect">
            <a:avLst/>
          </a:prstGeom>
          <a:solidFill>
            <a:srgbClr val="7FB3C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9260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phishing/legitimate ratio in both partitions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28016" cy="777240"/>
          </a:xfrm>
          <a:prstGeom prst="roundRect">
            <a:avLst/>
          </a:prstGeom>
          <a:solidFill>
            <a:srgbClr val="7FB3C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42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38404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state — anyone re-running the split gets identical results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28016" cy="777240"/>
          </a:xfrm>
          <a:prstGeom prst="roundRect">
            <a:avLst/>
          </a:prstGeom>
          <a:solidFill>
            <a:srgbClr val="7FB3C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49040" y="47548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for statistical validation: mean ± SD across folds, paired significance testing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AF2E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806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250" dirty="0">
                <a:solidFill>
                  <a:srgbClr val="1D5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SVC's 5-fold mean F1 (99.233% ± 0.086%) confirms the single-split figure is stable, not a lucky split.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Dominic — Data Preparation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Representing email text as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EAF2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(baseline)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50,000 maximum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1–2 word n-grams (unigrams + bigrams)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English stop-words removed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High-dimensional, sparse representation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matter: phishing intent often shows in short phrases like “verify account”.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440680" cy="3566160"/>
          </a:xfrm>
          <a:prstGeom prst="roundRect">
            <a:avLst>
              <a:gd name="adj" fmla="val 2564"/>
            </a:avLst>
          </a:prstGeom>
          <a:solidFill>
            <a:srgbClr val="F4F0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11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signals (extension)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Message length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294436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URL count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332841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Exclamation mark count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712464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Digit count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40965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Capital-letter ratio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Phishing-keyword count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F4E5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 </a:t>
            </a:r>
            <a:pPr indent="0" marL="0">
              <a:buNone/>
            </a:pPr>
            <a:r>
              <a:rPr lang="en-US" sz="1300" dirty="0">
                <a:solidFill>
                  <a:srgbClr val="DC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added no measurable signal beyond TF-IDF (F1 unchanged at 99.16%) — TF-IDF already weights the same discriminating terms directly.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Ashraful — Feature Engineering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MVP MODEL WORKFLOW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services,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EAF2F4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LinearSVC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EAF2E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Verification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28346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registry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FBF3E6"/>
          </a:solidFill>
          <a:ln w="12700">
            <a:solidFill>
              <a:srgbClr val="8C4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38160" y="28346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lessons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risk scoring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pipeline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EA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34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text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78608" y="4617720"/>
            <a:ext cx="237744" cy="237744"/>
          </a:xfrm>
          <a:prstGeom prst="rightArrow">
            <a:avLst/>
          </a:prstGeom>
          <a:solidFill>
            <a:srgbClr val="7FB3C4"/>
          </a:solidFill>
          <a:ln/>
        </p:spPr>
      </p:sp>
      <p:sp>
        <p:nvSpPr>
          <p:cNvPr id="20" name="Shape 18"/>
          <p:cNvSpPr/>
          <p:nvPr/>
        </p:nvSpPr>
        <p:spPr>
          <a:xfrm>
            <a:off x="2816352" y="443484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EA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2816352" y="4434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4617720"/>
            <a:ext cx="237744" cy="237744"/>
          </a:xfrm>
          <a:prstGeom prst="rightArrow">
            <a:avLst/>
          </a:prstGeom>
          <a:solidFill>
            <a:srgbClr val="7FB3C4"/>
          </a:solidFill>
          <a:ln/>
        </p:spPr>
      </p:sp>
      <p:sp>
        <p:nvSpPr>
          <p:cNvPr id="23" name="Shape 21"/>
          <p:cNvSpPr/>
          <p:nvPr/>
        </p:nvSpPr>
        <p:spPr>
          <a:xfrm>
            <a:off x="5084064" y="443484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EAF2F4"/>
          </a:solidFill>
          <a:ln/>
        </p:spPr>
      </p:sp>
      <p:sp>
        <p:nvSpPr>
          <p:cNvPr id="24" name="Text 22"/>
          <p:cNvSpPr/>
          <p:nvPr/>
        </p:nvSpPr>
        <p:spPr>
          <a:xfrm>
            <a:off x="5084064" y="4434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14032" y="4617720"/>
            <a:ext cx="237744" cy="237744"/>
          </a:xfrm>
          <a:prstGeom prst="rightArrow">
            <a:avLst/>
          </a:prstGeom>
          <a:solidFill>
            <a:srgbClr val="7FB3C4"/>
          </a:solidFill>
          <a:ln/>
        </p:spPr>
      </p:sp>
      <p:sp>
        <p:nvSpPr>
          <p:cNvPr id="26" name="Shape 24"/>
          <p:cNvSpPr/>
          <p:nvPr/>
        </p:nvSpPr>
        <p:spPr>
          <a:xfrm>
            <a:off x="7351776" y="443484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EAF2F4"/>
          </a:solidFill>
          <a:ln/>
        </p:spPr>
      </p:sp>
      <p:sp>
        <p:nvSpPr>
          <p:cNvPr id="27" name="Text 25"/>
          <p:cNvSpPr/>
          <p:nvPr/>
        </p:nvSpPr>
        <p:spPr>
          <a:xfrm>
            <a:off x="7351776" y="4434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381744" y="4617720"/>
            <a:ext cx="237744" cy="237744"/>
          </a:xfrm>
          <a:prstGeom prst="rightArrow">
            <a:avLst/>
          </a:prstGeom>
          <a:solidFill>
            <a:srgbClr val="7FB3C4"/>
          </a:solidFill>
          <a:ln/>
        </p:spPr>
      </p:sp>
      <p:sp>
        <p:nvSpPr>
          <p:cNvPr id="29" name="Shape 27"/>
          <p:cNvSpPr/>
          <p:nvPr/>
        </p:nvSpPr>
        <p:spPr>
          <a:xfrm>
            <a:off x="9619488" y="4434840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EAF2EC"/>
          </a:solidFill>
          <a:ln/>
        </p:spPr>
      </p:sp>
      <p:sp>
        <p:nvSpPr>
          <p:cNvPr id="30" name="Text 28"/>
          <p:cNvSpPr/>
          <p:nvPr/>
        </p:nvSpPr>
        <p:spPr>
          <a:xfrm>
            <a:off x="9619488" y="4434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latency: ~7–11 ms detection · ~1.4–9.3 ms URL verification — both well under the 2,000 ms NFR target.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Ashraful — MVP Model Workflow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MVP MODEL WORKFLOW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methods, three purposes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EAF2F4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benchmark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88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/ LinearSVC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410712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32504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3250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BF3E6"/>
          </a:solidFill>
          <a:ln w="12700">
            <a:solidFill>
              <a:srgbClr val="8C4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0116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27889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8C4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788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410712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8C4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41071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4F0F7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0116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different approach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21040" y="27889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6A4C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7889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(transformer)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replicated methods and both extensions use the identical 82,486-email dataset, split and evaluation protocol — differences are attributable to method alone.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Ashraful — MVP Model Workflow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MVP OUTPUTS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SVC replicates the published benchmark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8308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EAF2F4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8745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99.16%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818120" y="24688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F1 — vs published 99.0%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18120" y="320040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EAF2EC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329184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818120" y="38862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false-positive rate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461772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BF3E6"/>
          </a:solidFill>
          <a:ln/>
        </p:spPr>
      </p:sp>
      <p:sp>
        <p:nvSpPr>
          <p:cNvPr id="12" name="Text 9"/>
          <p:cNvSpPr/>
          <p:nvPr/>
        </p:nvSpPr>
        <p:spPr>
          <a:xfrm>
            <a:off x="7818120" y="47091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C4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818120" y="53035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SVC errors (75 FP + 70 FN)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Huzaifa — MVP Outputs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MVP OUTPUTS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hold up under scrutiny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AF2F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99.233% ± 0.086%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folds, not a lucky split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EAF2EC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16.60, p = 0.0001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SVC's edge over Random Forest is real, not noise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BF3E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06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7–11 ms / 1.4–9.3 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/ URL verification — both far under target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0F7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206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45262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/ 23 passing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51663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requirements, success + failure paths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Huzaifa — MVP Outputs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RISKS &amp;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MVP does not yet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28016" cy="960120"/>
          </a:xfrm>
          <a:prstGeom prst="roundRect">
            <a:avLst/>
          </a:prstGeom>
          <a:solidFill>
            <a:srgbClr val="B03A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authentication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58568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has no auth/RBAC layer — OWASP review flags 3 High findings, all tracing to this single deferred decision (FR-08).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128016" cy="960120"/>
          </a:xfrm>
          <a:prstGeom prst="roundRect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449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untested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public research corpora, not live institutional traffic — real-world performance is not yet verified.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15384"/>
            <a:ext cx="128016" cy="960120"/>
          </a:xfrm>
          <a:prstGeom prst="roundRect">
            <a:avLst/>
          </a:prstGeom>
          <a:solidFill>
            <a:srgbClr val="B03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1538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is preliminary 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9943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~7% of the corpus (CPU constraint) — cannot yet confirm whether transformers beat the classical ceiling.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BEAE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  </a:t>
            </a:r>
            <a:pPr indent="0" marL="0">
              <a:buNone/>
            </a:pPr>
            <a:r>
              <a:rPr lang="en-US" sz="1300" dirty="0">
                <a:solidFill>
                  <a:srgbClr val="7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documented, scoped MVP trade-offs — each has a concrete remediation identified for Week 5+ (see Planned Improvements).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Huzaifa — Risks &amp; Limitations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PLANNED IMPROVEMENTS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technical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EAF2F4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47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556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DistilBERT fine-tuning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13969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training on the complete 82,486-email corpus — the one experiment that would settle whether transformers exceed the classical ceiling.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384048" cy="384048"/>
          </a:xfrm>
          <a:prstGeom prst="ellipse">
            <a:avLst/>
          </a:prstGeom>
          <a:solidFill>
            <a:srgbClr val="EAF2F4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9900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authentication &amp; RBAC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37413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single sign-on, role-based access control, and rate limiting on write endpoints.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15968"/>
            <a:ext cx="384048" cy="384048"/>
          </a:xfrm>
          <a:prstGeom prst="ellipse">
            <a:avLst/>
          </a:prstGeom>
          <a:solidFill>
            <a:srgbClr val="EAF2F4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15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2245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hyperparameter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6085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tuning beyond the C parameter — loss function and class-weight dimensions.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A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on the next slide:  </a:t>
            </a:r>
            <a:pPr indent="0" marL="0"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pilot-study improvements.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 — Planned Improvements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PLANNED IMPROVEMENTS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from validated MVP to evaluated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EAF2E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47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556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pilot (ethics-approved)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13969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users, real behaviour — the only way to measure the deferred risky-click reduction objective.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384048" cy="384048"/>
          </a:xfrm>
          <a:prstGeom prst="ellipse">
            <a:avLst/>
          </a:prstGeom>
          <a:solidFill>
            <a:srgbClr val="EAF2E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9900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KPI measurement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37413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retention and recognition accuracy over time, not just quiz completion.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15968"/>
            <a:ext cx="384048" cy="384048"/>
          </a:xfrm>
          <a:prstGeom prst="ellipse">
            <a:avLst/>
          </a:prstGeom>
          <a:solidFill>
            <a:srgbClr val="EAF2EC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15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2245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false-negative 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6085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of SVC's 70 missed emails to characterise what they have in common.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F4E5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order: full-scale DistilBERT first, then production security, then the institutional pilot.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 — Planned Improvements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6510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SEDAS · MIS5320 Part 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8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2743200" cy="0"/>
          </a:xfrm>
          <a:prstGeom prst="line">
            <a:avLst/>
          </a:prstGeom>
          <a:noFill/>
          <a:ln w="19050">
            <a:solidFill>
              <a:srgbClr val="7FB3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github.com/ailinkon/MIS5320-SEDAS-CyberProjectB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2026-08-24T06:50:08Z</dcterms:created>
  <dcterms:modified xsi:type="dcterms:W3CDTF">2026-08-24T06:50:08Z</dcterms:modified>
</cp:coreProperties>
</file>